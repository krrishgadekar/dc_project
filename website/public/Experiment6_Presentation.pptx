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EXPERIMENT 6: DISTRIBUTED COMPUTING</a:t>
            </a:r>
          </a:p>
          <a:p>
            <a:pPr>
              <a:spcAft>
                <a:spcPts val="20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Quorum-Based Split-Brain Prevention</a:t>
            </a:r>
            <a:br/>
            <a:r>
              <a:t>&amp; Load Balancing Algorithms</a:t>
            </a:r>
          </a:p>
          <a:p>
            <a:pPr>
              <a:spcAft>
                <a:spcPts val="30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A Multi-Threaded Java Simulation of Fault-Tolerant Leader Election, Quorum Consensus, and 5 Dynamic Load Balancing Strategies.</a:t>
            </a:r>
          </a:p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Project Scope: Bully Election | Quorum Threshold Q=(N/2)+1 | UDP Socket Communication | Lamport Logical Clocks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Distributed Systems Challenge: Split-Brain &amp; Unbalanced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t>1. The Split-Brain Problem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Network Partition Hazard: </a:t>
            </a:r>
            <a:r>
              <a:rPr b="0"/>
              <a:t>When cluster nodes lose connectivity, partitioned groups may independently elect their own leaders.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Dual-Leader Disaster: </a:t>
            </a:r>
            <a:r>
              <a:rPr b="0"/>
              <a:t>Two active leaders accept conflicting writes and task assignments simultaneously.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Data Corruption: </a:t>
            </a:r>
            <a:r>
              <a:rPr b="0"/>
              <a:t>Causes state divergence, unrecoverable data loss, and cluster instability.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Solution Requirement: </a:t>
            </a:r>
            <a:r>
              <a:rPr b="0"/>
              <a:t>A mathematical quorum rule preventing any minority partition from electing a leader.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2. Efficient Task Distribution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Heterogeneous Workloads: </a:t>
            </a:r>
            <a:r>
              <a:rPr b="0"/>
              <a:t>Client requests vary in complexity (LIGHT, MEDIUM, HEAVY, COMPUTE, IO).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Single Leader Bottleneck: </a:t>
            </a:r>
            <a:r>
              <a:rPr b="0"/>
              <a:t>Leader must intelligently assign incoming tasks to worker nodes without overloading any single node.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Dynamic Adaptability: </a:t>
            </a:r>
            <a:r>
              <a:rPr b="0"/>
              <a:t>Worker capacity and real-time response latency must influence scheduling decisions.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Solution Requirement: </a:t>
            </a:r>
            <a:r>
              <a:rPr b="0"/>
              <a:t>Pluggable Load Balancing algorithms (Round Robin, Least Conn, Weighted, Random, Response Time).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Architecture: 5-Node UDP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Cluster Topography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Total Nodes (N): </a:t>
            </a:r>
            <a:r>
              <a:rPr b="0"/>
              <a:t>5 Independent JVM processes.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Port Mapping: </a:t>
            </a:r>
            <a:r>
              <a:rPr b="0"/>
              <a:t>Node 1: 5001 | Node 2: 5002
Node 3: 5003 | Node 4: 5004
Node 5: 5005 (Default Leader)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Transport Layer: </a:t>
            </a:r>
            <a:r>
              <a:rPr b="0"/>
              <a:t>Java DatagramSocket (UDP) over localhost 127.0.0.1.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Logical Clock: </a:t>
            </a:r>
            <a:r>
              <a:rPr b="0"/>
              <a:t>Lamport Timestamps updated on every inter-node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Core Message Protocols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HEARTBEAT: </a:t>
            </a:r>
            <a:r>
              <a:rPr b="0"/>
              <a:t>Periodic 1s broadcast containing Node ID, Clock, Leader Flag, Active Tasks, Avg Response Time.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COORDINATOR: </a:t>
            </a:r>
            <a:r>
              <a:rPr b="0"/>
              <a:t>Bully election victory announcement establishing cluster leader.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CLIENT_REQUEST: </a:t>
            </a:r>
            <a:r>
              <a:rPr b="0"/>
              <a:t>Client task payload sent to leader port 5005.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TASK_ASSIGNMENT: </a:t>
            </a:r>
            <a:r>
              <a:rPr b="0"/>
              <a:t>Leader dispatch message to selected worker node.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TASK_COMPLETE: </a:t>
            </a:r>
            <a:r>
              <a:rPr b="0"/>
              <a:t>Worker completion report back to leader.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Key Architectural Assets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DistributedNode.java: </a:t>
            </a:r>
            <a:r>
              <a:rPr b="0"/>
              <a:t>Core node logic, networking &amp; threading.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LoadBalancer.java: </a:t>
            </a:r>
            <a:r>
              <a:rPr b="0"/>
              <a:t>Abstract base class &amp; 5 strategy implementations.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NodeMetrics.java: </a:t>
            </a:r>
            <a:r>
              <a:rPr b="0"/>
              <a:t>Worker state, active count &amp; EMA response time.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ClusterSim.java: </a:t>
            </a:r>
            <a:r>
              <a:rPr b="0"/>
              <a:t>Process orchestrator for baseline and partition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Quorum Consensus: Mathematical Guarantee Against Split-Brain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The Quorum Threshold Rule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Formula: </a:t>
            </a:r>
            <a:r>
              <a:rPr b="0"/>
              <a:t>Quorum Threshold Q = floor(N / 2) + 1  --&gt;  For N = 5 nodes, Q = floor(5 / 2) + 1 = 3 nodes.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Enforcement: </a:t>
            </a:r>
            <a:r>
              <a:rPr b="0"/>
              <a:t>No election can be initiated or declared unless a candidate can reach at least 3 active nodes (including self).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t>Scenario: Network Partition {1,2} vs {3,4,5}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Topology Split: </a:t>
            </a:r>
            <a:r>
              <a:rPr b="0"/>
              <a:t>Minority Partition {1,2} (2 nodes) loses network connection to Majority Partition {3,4,5} (3 nodes).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Minority Partition Behavior: </a:t>
            </a:r>
            <a:r>
              <a:rPr b="0"/>
              <a:t>Watchdog detects missing leader. Reachable count = 2 (&lt; 3 threshold). Refuses election!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Prevented Danger: </a:t>
            </a:r>
            <a:r>
              <a:rPr b="0"/>
              <a:t>Nodes 1 and 2 CANNOT elect a leader. Split-brain is successfully PREVENTED.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Majority Partition Behavior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Reachable Nodes: </a:t>
            </a:r>
            <a:r>
              <a:rPr b="0"/>
              <a:t>Nodes {3,4,5} can reach each other. Reachable count = 3 (&gt;= 3 threshold).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Election Triggered: </a:t>
            </a:r>
            <a:r>
              <a:rPr b="0"/>
              <a:t>Quorum requirement satisfied! Bully election proceeds seamlessly.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Leader Established: </a:t>
            </a:r>
            <a:r>
              <a:rPr b="0"/>
              <a:t>Node 5 (highest active ID) wins election, broadcasts COORDINATOR, and initializes Load Balancer.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Bully Leader Election Protocol with Quorum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1. Watchdog Liveness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Heartbeat Monitoring: </a:t>
            </a:r>
            <a:r>
              <a:rPr b="0"/>
              <a:t>Watchdog thread checks aliveTable every 1000ms.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Timeout Threshold: </a:t>
            </a:r>
            <a:r>
              <a:rPr b="0"/>
              <a:t>Node marked dead if no heartbeat received for &gt; 3000ms.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Leader Absence: </a:t>
            </a:r>
            <a:r>
              <a:rPr b="0"/>
              <a:t>If leaderId is null or silent, watchdog evaluates cluster quorum.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2. Bully Candidate Check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Quorum Check: </a:t>
            </a:r>
            <a:r>
              <a:rPr b="0"/>
              <a:t>If reachable.size() &gt;= 3, election starts.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Higher ID Evaluation: </a:t>
            </a:r>
            <a:r>
              <a:rPr b="0"/>
              <a:t>Node checks reachable nodes for any node with ID &gt; self.nodeId.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Bully Rule: </a:t>
            </a:r>
            <a:r>
              <a:rPr b="0"/>
              <a:t>If no reachable node has a higher ID, this node immediately claims leadership!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3. Coordinator Declaration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State Update: </a:t>
            </a:r>
            <a:r>
              <a:rPr b="0"/>
              <a:t>Sets isLeader = true and initializes chosen LoadBalancer strategy.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Broadcast Announcement: </a:t>
            </a:r>
            <a:r>
              <a:rPr b="0"/>
              <a:t>Sends COORDINATOR|nodeId|clock|nodeId to all cluster ports.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Task Dispatch Ready: </a:t>
            </a:r>
            <a:r>
              <a:rPr b="0"/>
              <a:t>Leader starts Dispatcher thread to accept &amp; assign client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Load Balancing Framework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Framework Design (Strategy Pattern)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Abstract Base Class: </a:t>
            </a:r>
            <a:r>
              <a:rPr b="0"/>
              <a:t>LoadBalancer defines selectNode(availableNodes), onTaskAssigned(), onTaskCompleted().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Factory Creation: </a:t>
            </a:r>
            <a:r>
              <a:rPr b="0"/>
              <a:t>LoadBalancerFactory dynamically instantiates algorithm by name string.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Decoupled Execution: </a:t>
            </a:r>
            <a:r>
              <a:rPr b="0"/>
              <a:t>Leader delegates node selection entirely to the configured balancer instance.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Extensibility: </a:t>
            </a:r>
            <a:r>
              <a:rPr b="0"/>
              <a:t>New algorithms can be added seamlessly by extending LoadBalancer.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Node Metrics &amp; Real-time Feedback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NodeMetrics Tracking: </a:t>
            </a:r>
            <a:r>
              <a:rPr b="0"/>
              <a:t>Tracks activeTasks, completedTasks, failedTasks, and capacity weight.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Exponential Moving Avg (EMA): </a:t>
            </a:r>
            <a:r>
              <a:rPr b="0"/>
              <a:t>avgResponseTimeMs = 0.7 * old + 0.3 * executionTimeMs.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Heartbeat Telemetry: </a:t>
            </a:r>
            <a:r>
              <a:rPr b="0"/>
              <a:t>Follower nodes piggyback current active tasks and response times on heartbeats.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Dynamic Health Aware: </a:t>
            </a:r>
            <a:r>
              <a:rPr b="0"/>
              <a:t>Only healthy, non-timed-out follower nodes are passed to selectNode().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Load Balancing Algorithms: Static &amp; Capacity-Based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1. Round Robin (RR)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Selection Logic: </a:t>
            </a:r>
            <a:r>
              <a:rPr b="0"/>
              <a:t>Cycles sequentially through available followers using modulo index: currentIndex % availableNodes.size().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Pros: </a:t>
            </a:r>
            <a:r>
              <a:rPr b="0"/>
              <a:t>Zero overhead, perfectly equal task distribution count.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Cons: </a:t>
            </a:r>
            <a:r>
              <a:rPr b="0"/>
              <a:t>Ignores node processing capacity and task length variations.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Best For: </a:t>
            </a:r>
            <a:r>
              <a:rPr b="0"/>
              <a:t>Homogeneous nodes with uniform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2. Least Connections (LC)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Selection Logic: </a:t>
            </a:r>
            <a:r>
              <a:rPr b="0"/>
              <a:t>Inspects activeTasks for each alive node; picks the node with minimum active tasks.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Pros: </a:t>
            </a:r>
            <a:r>
              <a:rPr b="0"/>
              <a:t>Prevents slow tasks from piling up on a single worker.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Cons: </a:t>
            </a:r>
            <a:r>
              <a:rPr b="0"/>
              <a:t>Doesn't account for underlying hardware speed differences.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Best For: </a:t>
            </a:r>
            <a:r>
              <a:rPr b="0"/>
              <a:t>Long-running or variable execution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t>3. Weighted Round Robin (WRR)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Selection Logic: </a:t>
            </a:r>
            <a:r>
              <a:rPr b="0"/>
              <a:t>Pre-populates a shuffled list based on node capacity weight (Node 5 = Weight 5). Cycles through list.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Pros: </a:t>
            </a:r>
            <a:r>
              <a:rPr b="0"/>
              <a:t>Directs proportionally more traffic to powerful servers.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Cons: </a:t>
            </a:r>
            <a:r>
              <a:rPr b="0"/>
              <a:t>Static weight assignment ignores transient load spikes.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Best For: </a:t>
            </a:r>
            <a:r>
              <a:rPr b="0"/>
              <a:t>Clusters with known hardware capacity ratios.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Load Balancing Algorithms: Random &amp; Adaptive Response-Time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4. Random Load Balancer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Selection Logic: </a:t>
            </a:r>
            <a:r>
              <a:rPr b="0"/>
              <a:t>Picks a random index: availableNodes.get(random.nextInt(size)).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Characteristics: </a:t>
            </a:r>
            <a:r>
              <a:rPr b="0"/>
              <a:t>Stateless, simple implementation, non-deterministic.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Performance: </a:t>
            </a:r>
            <a:r>
              <a:rPr b="0"/>
              <a:t>Statistically even over high volume, but susceptible to short-term clustering spikes.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Use Case: </a:t>
            </a:r>
            <a:r>
              <a:rPr b="0"/>
              <a:t>Baseline benchmarking and lightweight distributed proxies.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5. Response Time Based (Adaptive)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Selection Logic: </a:t>
            </a:r>
            <a:r>
              <a:rPr b="0"/>
              <a:t>Evaluates node EMA response time penalized by current in-flight task load.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Scoring Formula: </a:t>
            </a:r>
            <a:r>
              <a:rPr b="0"/>
              <a:t>AdjustedScore = AvgResponseTimeMs * (1.0 + 0.2 * ActiveTasks)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Adaptive Action: </a:t>
            </a:r>
            <a:r>
              <a:rPr b="0"/>
              <a:t>Automatically routes tasks away from slow or struggling nodes toward fast, idle workers.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Use Case: </a:t>
            </a:r>
            <a:r>
              <a:rPr b="0"/>
              <a:t>Production dynamic clusters with mixed hardware and fluctuating workloads.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Multi-Threaded Node Engine (6 Concurrent Threads)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Thread 1: Sender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Heartbeat Broadcaster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Sends UDP HEARTBEAT every 1000ms carrying clock, leader status, active task count &amp; response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Thread 2: Listener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UDP Socket Receiver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Listens on node port, parses incoming packets, and updates Lamport logical clock.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t>Thread 3: Watchdog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Liveness &amp; Election Guard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Checks heartbeat timeouts (3s), evaluates quorum (&gt;=3), and triggers Bully election.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Thread 4: Dispatcher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Leader Task Dispatcher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Leader only: polls taskQueue, calls LoadBalancer, sends TASK_ASSIGNMENT to chosen worker.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Thread 5: Executor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Worker Task Worker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Consumes assigned tasks, simulates delay (LIGHT/MEDIUM/HEAVY), sends TASK_COMPLETE to leader.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69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Thread 6: Stats Reporter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Role: </a:t>
            </a:r>
            <a:r>
              <a:rPr b="0"/>
              <a:t>Cluster Telemetry Logger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Action: </a:t>
            </a:r>
            <a:r>
              <a:rPr b="0"/>
              <a:t>Prints cluster dispatched, completed, and queue size metrics every 5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Task Lifecycle &amp; Simulation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Task Lifecycle (Task.java)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QUEUED: </a:t>
            </a:r>
            <a:r>
              <a:rPr b="0"/>
              <a:t>Client request received by leader; added to taskQueue.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ASSIGNED: </a:t>
            </a:r>
            <a:r>
              <a:rPr b="0"/>
              <a:t>Load balancer selects worker node; TASK_ASSIGNMENT sent via UDP.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EXECUTING: </a:t>
            </a:r>
            <a:r>
              <a:rPr b="0"/>
              <a:t>Worker places task in local queue and starts execution.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COMPLETED: </a:t>
            </a:r>
            <a:r>
              <a:rPr b="0"/>
              <a:t>Task execution finishes; worker reports TASK_COMPLETE back to leader.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Timing Metrics: </a:t>
            </a:r>
            <a:r>
              <a:rPr b="0"/>
              <a:t>Tracks Queue Time, Execution Time, and Total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Simulation Driver (ClusterSim &amp; Client)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ClusterSim.java: </a:t>
            </a:r>
            <a:r>
              <a:rPr b="0"/>
              <a:t>Spawns 5 node JVM processes with requested algorithm &amp; topology (baseline vs partition).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ClientSimulator.java: </a:t>
            </a:r>
            <a:r>
              <a:rPr b="0"/>
              <a:t>Generates client traffic (e.g. 20 tasks/sec for 15s) targeted at Leader Port 5005.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Workload Types: </a:t>
            </a:r>
            <a:r>
              <a:rPr b="0"/>
              <a:t>Generates mixed payload types: LIGHT (80ms), MEDIUM (200ms), HEAVY (400ms).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Automated Lifecycle: </a:t>
            </a:r>
            <a:r>
              <a:rPr b="0"/>
              <a:t>Gracefully shuts down processes via shutdown hooks.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Experimental Results &amp; Comparative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Split-Brain Prevention Results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Baseline Test: </a:t>
            </a:r>
            <a:r>
              <a:rPr b="0"/>
              <a:t>Leader Node 5 handles 300 tasks with zero dropped requests across 4 workers.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Partition Test: </a:t>
            </a:r>
            <a:r>
              <a:rPr b="0"/>
              <a:t>Minority partition {1,2} refrains from electing a leader due to Quorum check (2 &lt; 3).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Majority Test: </a:t>
            </a:r>
            <a:r>
              <a:rPr b="0"/>
              <a:t>Majority partition {3,4,5} elects Node 5 as leader and continues processing.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Verdict: </a:t>
            </a:r>
            <a:r>
              <a:rPr b="0"/>
              <a:t>Quorum threshold mathematically guarantees 0% chance of split-brain leader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Load Balancer Algorithm Performance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Round Robin: </a:t>
            </a:r>
            <a:r>
              <a:rPr b="0"/>
              <a:t>Even task distribution, but heavy tasks cause queue backup on weaker nodes.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Least Connections: </a:t>
            </a:r>
            <a:r>
              <a:rPr b="0"/>
              <a:t>Smooths out queue lengths effectively during mixed workloads.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Weighted RR: </a:t>
            </a:r>
            <a:r>
              <a:rPr b="0"/>
              <a:t>Node 5 (Weight 5) processes ~3x more tasks than Node 1 (Weight 1).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Adaptive Response Time: </a:t>
            </a:r>
            <a:r>
              <a:rPr b="0"/>
              <a:t>Lowest overall average task latency (~180ms vs ~240ms in RR) under heterogeneous 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DISTRIBUTED COMPUTING | EXPERIMENT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Key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Robust Fault Tolerance: </a:t>
            </a:r>
            <a:r>
              <a:rPr b="0"/>
              <a:t>Quorum-enforced Bully election completely prevents split-brain scenarios.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High Concurrency: </a:t>
            </a:r>
            <a:r>
              <a:rPr b="0"/>
              <a:t>Multi-threaded Java design handles concurrent message passing and task execution.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Adaptive Scheduling: </a:t>
            </a:r>
            <a:r>
              <a:rPr b="0"/>
              <a:t>Response-time based load balancing optimizes throughput dynamically.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Modular Architecture: </a:t>
            </a:r>
            <a:r>
              <a:rPr b="0"/>
              <a:t>Clean object-oriented design separating networking, consensus, and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Future Extensions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Raft / Paxos Integration: </a:t>
            </a:r>
            <a:r>
              <a:rPr b="0"/>
              <a:t>Upgrade election logic to full Raft consensus with log replication.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Dynamic Weight Scaling: </a:t>
            </a:r>
            <a:r>
              <a:rPr b="0"/>
              <a:t>Automatically adjust node capacity weights based on CPU/RAM metrics.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TLS / Security: </a:t>
            </a:r>
            <a:r>
              <a:rPr b="0"/>
              <a:t>Add encrypted TCP sockets and node authentication.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8BDF8"/>
                </a:solidFill>
              </a:rPr>
              <a:t>• Web Dashboard: </a:t>
            </a:r>
            <a:r>
              <a:rPr b="0"/>
              <a:t>Build a real-time UI showing node liveness, election events, and queue depths.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