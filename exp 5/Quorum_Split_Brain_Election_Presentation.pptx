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DISTRIBUTED COMPUTING LABORATORY • EXPERIMENT 5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Quorum-Based Split-Brain Preventing Leader Election</a:t>
            </a:r>
          </a:p>
          <a:p>
            <a:pPr>
              <a:spcAft>
                <a:spcPts val="3600"/>
              </a:spcAft>
              <a:defRPr sz="1800">
                <a:solidFill>
                  <a:srgbClr val="CBD5E1"/>
                </a:solidFill>
              </a:defRPr>
            </a:pPr>
            <a:r>
              <a:t>Mathematical Majority Quorum Invariants, Dynamic Network Partitions &amp; Fencing Guards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Distributed Systems Implementation • Java UDP Datagram Sockets • N=5 Cluster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Split-Brain Problem in Distributed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BE185D"/>
                </a:solidFill>
              </a:defRPr>
            </a:pPr>
            <a:r>
              <a:t>Network Partitions &amp; Naive Elections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Single Leader Architecture: Distributed clusters rely on a primary coordinator to serialize writes and maintain consistency.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Network Partitions: Switches, routers, or VM link failures partition the cluster into disconnected sub-graphs (e.g. {1, 2} vs {3, 4, 5}).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Naive Election Failure: In traditional Bully or Ring algorithms, BOTH disconnected groups detect leader absence and elect their own leader.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Dual Active Leaders: Partition A elects Node 2; Partition B elects Node 5.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Catastrophic Split-Brain: Both leaders accept conflicting writes simultaneously, causing irreversible data divergence.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E7490"/>
                </a:solidFill>
              </a:defRPr>
            </a:pPr>
            <a:r>
              <a:t>Experiment 5 Objective &amp; Solution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Strict Majority Quorum Enforcement: Mandate that no leader can ever be elected without votes from a strict majority: Q = floor(N/2) + 1.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Minority Fencing (FENCED_MINORITY): Any sub-cluster with fewer than Q reachable nodes explicitly refuses election and rejects writes.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Active Leader Quorum Lease: Leaders continuously monitor heartbeat acknowledgments; if ACKs drop below Q, the leader immediately steps down.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Client Workload Protection: Uncompromised adherence to the CAP theorem (preferring Consistency over Availability under partitions).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Dynamic Partition Healing: Clean cluster re-unification under a single leader when network connectivity is restored.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Mathematical Foundation: Strict Majority Quorum Invariant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The Majority Quorum Formula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For a distributed cluster of N nodes, the minimum quorum Q required to validate an election is:</a:t>
            </a:r>
          </a:p>
          <a:p>
            <a:pPr>
              <a:spcAft>
                <a:spcPts val="1400"/>
              </a:spcAft>
              <a:defRPr sz="1800" b="1">
                <a:solidFill>
                  <a:srgbClr val="0E7490"/>
                </a:solidFill>
              </a:defRPr>
            </a:pPr>
            <a:r>
              <a:t>Q = floor(N / 2) + 1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For N = 5 Nodes: Q = floor(5/2) + 1 = 2 + 1 = 3 nodes.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Minority Partition {1, 2}: Size = 2 &lt; 3 → Quorum FAILED.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Majority Partition {3, 4, 5}: Size = 3 &gt;= 3 → Quorum SATISFIED.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Tolerance: A 5-node cluster tolerates up to F = floor((N-1)/2) = 2 node failures while maintaining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Pigeonhole Overlap Proof (Zero Split-Brain)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Theorem: Two independent partitions can NEVER simultaneously achieve a majority quorum.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Proof by Contradiction: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1. Let cluster be partitioned into two disjoint sets A and B, where |A| + |B| = N.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2. Assume both Partition A and Partition B elect a leader.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3. Both must hold at least Q votes: |A| &gt;= Q and |B| &gt;= Q.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4. Summing both inequalities: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   |A| + |B| &gt;= 2Q = 2(floor(N/2) + 1) &gt; 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5. This contradicts |A| + |B| = N!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Conclusion: Split-brain is mathematically impossible when Q = floor(N/2) + 1 is enforced.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Distributed Node Architecture &amp; Four-State Machine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FOLLOWER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Default node state.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Awaits periodic heartbeats from Leader.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Monitors watchdog timer (1800-2600ms randomized).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Grants at most 1 vote per Term to candidates.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Steps down on seeing higher Term.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79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7490"/>
                </a:solidFill>
              </a:defRPr>
            </a:pPr>
            <a:r>
              <a:t>CANDIDATE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Election initiator.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Increments monotonic Term (E = E + 1).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Self-votes (1 vote) and broadcasts REQUEST_VOTE.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Gathers votes over UDP vote socket.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Transitions to LEADER only if tally &gt;=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LEADER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Cluster coordinator.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Broadcasts periodic HEARTBEAT every 800ms.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Tracks active follower ACKs (Lease check).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Executes authorized client write workloads.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Steps down if active ACKs drop below Quorum.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E185D"/>
                </a:solidFill>
              </a:defRPr>
            </a:pPr>
            <a:r>
              <a:t>FENCED_MINORITY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Split-brain guard state.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Entered when reachable nodes &lt; Quorum (3).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Refuses to start election in minority.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Rejects client write workloads with error.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Restores to FOLLOWER when partition heals.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Communication Protocol &amp; UDP Message Framing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Networking &amp; Transport Architecture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Transport Layer: UDP DatagramSockets on 127.0.0.1 (IPv4).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Port Allocations: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• Driver Coordinator: Port 8000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• Interactive CLI Console: Port 8099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• Cluster Nodes 1 to 5: Ports 8001 through 8005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Non-blocking Concurrency: Cached thread pool workers + ScheduledExecutorService for heartbeats and watchdogs.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Dynamic Partitioning: In-memory Set&lt;Integer&gt; blockedPeers drops packets silently to simulate physical fiber cuts.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Pipe-Delimited Base64 Packet Framing</a:t>
            </a:r>
          </a:p>
          <a:p>
            <a:pPr>
              <a:spcAft>
                <a:spcPts val="200"/>
              </a:spcAft>
              <a:defRPr sz="1050" b="1">
                <a:solidFill>
                  <a:srgbClr val="94A3B8"/>
                </a:solidFill>
                <a:latin typeface="Courier New"/>
              </a:defRPr>
            </a:pPr>
            <a:r>
              <a:t>// Serialized Packet Wire Format</a:t>
            </a:r>
          </a:p>
          <a:p>
            <a:pPr>
              <a:spcAft>
                <a:spcPts val="200"/>
              </a:spcAft>
              <a:defRPr sz="1050">
                <a:solidFill>
                  <a:srgbClr val="FDE047"/>
                </a:solidFill>
                <a:latin typeface="Courier New"/>
              </a:defRPr>
            </a:pPr>
            <a:r>
              <a:t>TYPE | senderId | targetId | term | b64(payload) | b64(extra)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50" b="1">
                <a:solidFill>
                  <a:srgbClr val="94A3B8"/>
                </a:solidFill>
                <a:latin typeface="Courier New"/>
              </a:defRPr>
            </a:pPr>
            <a:r>
              <a:t>Core Protocol Message Types: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REQUEST_VOTE     : Candidate solicits majority votes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VOTE_GRANT       : Peer votes for candidate in Term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VOTE_REJECT      : Peer denies vote (lower term / voted)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COORDINATOR      : Leader announces majority consensus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HEARTBEAT        : Leader proves active lease to followers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HEARTBEAT_ACK    : Follower confirms presence for leader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WORKLOAD_REQ     : Client submits task to node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WORKLOAD_RESP    : Success or FENCED_MINORITY rejection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SET_PARTITION    : Dynamically isolate target peers</a:t>
            </a:r>
          </a:p>
          <a:p>
            <a:pPr>
              <a:spcAft>
                <a:spcPts val="200"/>
              </a:spcAft>
              <a:defRPr sz="1050">
                <a:solidFill>
                  <a:srgbClr val="F1F5F9"/>
                </a:solidFill>
                <a:latin typeface="Courier New"/>
              </a:defRPr>
            </a:pPr>
            <a:r>
              <a:t>• HEAL_PARTITION   : Clear blocked peers and re-unify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Simulation Phase: Network Partition Cut ({1, 2} vs {3, 4, 5})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BE185D"/>
                </a:solidFill>
              </a:defRPr>
            </a:pPr>
            <a:r>
              <a:t>Minority Partition {1, 2} (FENCED)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Partition Injected: Nodes 1 &amp; 2 lose connectivity to Nodes 3, 4, 5.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Watchdog Fires: Leader Node 5 heartbeats stop arriving.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Pre-Election Quorum Check: Reachable count = 2 nodes (&lt; Quorum 3).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Leadership Refused: Nodes 1 &amp; 2 explicitly refuse to elect a leader.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Fencing Activated: Nodes transition to State: FENCED_MINORITY.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Client Write Guard: Client write 'TX_1002' to Node 2 is REJECTED with FAIL_NO_QUORUM.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Invariant Verified: ZERO rogue leaders elected in minority partition!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Majority Partition {3, 4, 5} (ACTIVE)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Majority Cluster Present: Nodes 3, 4, and 5 can communicate freely.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Quorum Check: Reachable count = 3 nodes (&gt;= Quorum threshold 3).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Election Executed: Candidate gathers 3 votes: [3, 4, 5].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Consensus Proclaimed: Node 4 declared Leader for Term 2 with majority quorum.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Active Quorum Lease: Leader receives periodic HEARTBEAT_ACK from followers.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Client Write Execution: Client write 'TX_1003' to Node 4 is ACCEPTED and COMMITTED.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CAP Maintained: Consistency guaranteed while preserving partition tolerance.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Dynamic Partition Healing &amp; Seamless Re-unification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Healing &amp; Re-unification Steps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1. Driver Dispatches HEAL_PARTITION: Blocked peer sets on all 5 nodes are cleared.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2. Leader Heartbeat Propagation: Leader Node 4 heartbeats reach formerly fenced Nodes 1 &amp; 2.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3. Term Advance &amp; Fencing Lifted: Nodes 1 &amp; 2 observe higher Term 2, un-fence, and adopt FOLLOWER state.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4. Leader Recognition: All 5 nodes recognize Node 4 as the sole legitimate coordinator.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5. Zero Data Reconciliation: Because minority never accepted rogue writes, zero manual rollback is needed!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Live Execution Log: Stage 5 &amp; 6 Verification</a:t>
            </a:r>
          </a:p>
          <a:p>
            <a:pPr>
              <a:spcAft>
                <a:spcPts val="200"/>
              </a:spcAft>
              <a:defRPr sz="950">
                <a:solidFill>
                  <a:srgbClr val="FDE047"/>
                </a:solidFill>
                <a:latin typeface="Courier New"/>
              </a:defRPr>
            </a:pPr>
            <a:r>
              <a:t>[DRIVER] [HEAL] Partition cleared. Restoring connectivity...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  <a:r>
              <a:t>[Node 1] [PARTITION_HEALED] Full connectivity restored.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  <a:r>
              <a:t>[Node 2] [TERM_ADVANCE] Higher Term 2 seen. Demoting to FOLLOWER.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4ADE80"/>
                </a:solidFill>
                <a:latin typeface="Courier New"/>
              </a:defRPr>
            </a:pPr>
            <a:r>
              <a:t>STAGE 6: POST-HEALING UNIFIED CLUSTER VERIFICATION</a:t>
            </a:r>
          </a:p>
          <a:p>
            <a:pPr>
              <a:spcAft>
                <a:spcPts val="200"/>
              </a:spcAft>
              <a:defRPr sz="950">
                <a:solidFill>
                  <a:srgbClr val="FDE047"/>
                </a:solidFill>
                <a:latin typeface="Courier New"/>
              </a:defRPr>
            </a:pPr>
            <a:r>
              <a:t>[DRIVER] Node 1: State=FOLLOWER | Term=2 | Leader=4</a:t>
            </a:r>
          </a:p>
          <a:p>
            <a:pPr>
              <a:spcAft>
                <a:spcPts val="200"/>
              </a:spcAft>
              <a:defRPr sz="950">
                <a:solidFill>
                  <a:srgbClr val="FDE047"/>
                </a:solidFill>
                <a:latin typeface="Courier New"/>
              </a:defRPr>
            </a:pPr>
            <a:r>
              <a:t>[DRIVER] Node 2: State=FOLLOWER | Term=2 | Leader=4</a:t>
            </a:r>
          </a:p>
          <a:p>
            <a:pPr>
              <a:spcAft>
                <a:spcPts val="200"/>
              </a:spcAft>
              <a:defRPr sz="950">
                <a:solidFill>
                  <a:srgbClr val="FDE047"/>
                </a:solidFill>
                <a:latin typeface="Courier New"/>
              </a:defRPr>
            </a:pPr>
            <a:r>
              <a:t>[DRIVER] Node 3: State=FOLLOWER | Term=2 | Leader=4</a:t>
            </a:r>
          </a:p>
          <a:p>
            <a:pPr>
              <a:spcAft>
                <a:spcPts val="200"/>
              </a:spcAft>
              <a:defRPr sz="950">
                <a:solidFill>
                  <a:srgbClr val="FDE047"/>
                </a:solidFill>
                <a:latin typeface="Courier New"/>
              </a:defRPr>
            </a:pPr>
            <a:r>
              <a:t>[DRIVER] Node 4: State=LEADER   | Term=2 | Leader=4</a:t>
            </a:r>
          </a:p>
          <a:p>
            <a:pPr>
              <a:spcAft>
                <a:spcPts val="200"/>
              </a:spcAft>
              <a:defRPr sz="950">
                <a:solidFill>
                  <a:srgbClr val="FDE047"/>
                </a:solidFill>
                <a:latin typeface="Courier New"/>
              </a:defRPr>
            </a:pPr>
            <a:r>
              <a:t>[DRIVER] Node 5: State=FOLLOWER | Term=2 | Leader=4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4ADE80"/>
                </a:solidFill>
                <a:latin typeface="Courier New"/>
              </a:defRPr>
            </a:pPr>
            <a:r>
              <a:t>&gt;&gt;&gt; INVARIANT VERIFIED: Exactly ONE Leader (Node 4) across all 5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Comparative Analysis: Naive Election vs. Quorum-Based Election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62095"/>
              </a:tblGrid>
              <a:tr h="5829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 / Architectural 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Naive Leader Election (Exp 2 / Exp 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Quorum-Based Election (Exp 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Quorum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None (Highest reachable node claims leadership)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Strict Majority: Q = floor(N/2) + 1 (3 for N=5)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Network Partition Cut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185D"/>
                          </a:solidFill>
                        </a:defRPr>
                      </a:pPr>
                      <a:r>
                        <a:t>Both partitions independently elect a coordinator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Only majority partition is mathematically permitted to elect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Split-Brain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185D"/>
                          </a:solidFill>
                        </a:defRPr>
                      </a:pPr>
                      <a:r>
                        <a:t>HIGH (Two active leaders causing state corruption)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ZERO (Impossible by Pigeonhole Overlap Principle)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Minority Partition State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Elects rogue leader (e.g. Node 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Enters FENCED_MINORITY and refuses election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Client Write Workloads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Accepted in both partitions simultaneously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Accepted ONLY in majority; rejected in minority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Leader Lease Guard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Leader runs indefinitely in isolation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Leader automatically steps down if heartbeat ACKs &lt; Q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Partition Healing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Requires complex multi-master reconciliation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Automatic, seamless cluster re-unification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CLI Console: Manual Testing &amp;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Interactive Shell Capabilities</a:t>
            </a:r>
          </a:p>
          <a:p>
            <a:pPr>
              <a:spcAft>
                <a:spcPts val="800"/>
              </a:spcAft>
              <a:defRPr sz="1150" b="1">
                <a:solidFill>
                  <a:srgbClr val="0E7490"/>
                </a:solidFill>
              </a:defRPr>
            </a:pPr>
            <a:r>
              <a:t>• status: </a:t>
            </a:r>
            <a:r>
              <a:rPr b="0">
                <a:solidFill>
                  <a:srgbClr val="64748B"/>
                </a:solidFill>
              </a:rPr>
              <a:t>Dumps runtime state, Term, Leader, and blocked sets across all 5 nodes.</a:t>
            </a:r>
          </a:p>
          <a:p>
            <a:pPr>
              <a:spcAft>
                <a:spcPts val="800"/>
              </a:spcAft>
              <a:defRPr sz="1150" b="1">
                <a:solidFill>
                  <a:srgbClr val="0E7490"/>
                </a:solidFill>
              </a:defRPr>
            </a:pPr>
            <a:r>
              <a:t>• partition &lt;grp1&gt; &lt;grp2&gt;: </a:t>
            </a:r>
            <a:r>
              <a:rPr b="0">
                <a:solidFill>
                  <a:srgbClr val="64748B"/>
                </a:solidFill>
              </a:rPr>
              <a:t>Cuts network between groups (e.g. partition 1,2 3,4,5).</a:t>
            </a:r>
          </a:p>
          <a:p>
            <a:pPr>
              <a:spcAft>
                <a:spcPts val="800"/>
              </a:spcAft>
              <a:defRPr sz="1150" b="1">
                <a:solidFill>
                  <a:srgbClr val="0E7490"/>
                </a:solidFill>
              </a:defRPr>
            </a:pPr>
            <a:r>
              <a:t>• heal: </a:t>
            </a:r>
            <a:r>
              <a:rPr b="0">
                <a:solidFill>
                  <a:srgbClr val="64748B"/>
                </a:solidFill>
              </a:rPr>
              <a:t>Restores full bidirectional communication across all nodes.</a:t>
            </a:r>
          </a:p>
          <a:p>
            <a:pPr>
              <a:spcAft>
                <a:spcPts val="800"/>
              </a:spcAft>
              <a:defRPr sz="1150" b="1">
                <a:solidFill>
                  <a:srgbClr val="0E7490"/>
                </a:solidFill>
              </a:defRPr>
            </a:pPr>
            <a:r>
              <a:t>• workload &lt;nodeId&gt; &lt;task&gt;: </a:t>
            </a:r>
            <a:r>
              <a:rPr b="0">
                <a:solidFill>
                  <a:srgbClr val="64748B"/>
                </a:solidFill>
              </a:rPr>
              <a:t>Submits client task (verifies leader lease / minority fence).</a:t>
            </a:r>
          </a:p>
          <a:p>
            <a:pPr>
              <a:spcAft>
                <a:spcPts val="800"/>
              </a:spcAft>
              <a:defRPr sz="1150" b="1">
                <a:solidFill>
                  <a:srgbClr val="0E7490"/>
                </a:solidFill>
              </a:defRPr>
            </a:pPr>
            <a:r>
              <a:t>• kill &lt;nodeId&gt;: </a:t>
            </a:r>
            <a:r>
              <a:rPr b="0">
                <a:solidFill>
                  <a:srgbClr val="64748B"/>
                </a:solidFill>
              </a:rPr>
              <a:t>Shuts down a node process to test dynamic failover.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Example CLI Session Output</a:t>
            </a:r>
          </a:p>
          <a:p>
            <a:pPr>
              <a:spcAft>
                <a:spcPts val="200"/>
              </a:spcAft>
              <a:defRPr sz="950" b="1">
                <a:solidFill>
                  <a:srgbClr val="FDE047"/>
                </a:solidFill>
                <a:latin typeface="Courier New"/>
              </a:defRPr>
            </a:pPr>
            <a:r>
              <a:t>SplitBrain-CLI&gt; partition 1,2 3,4,5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  <a:r>
              <a:t>Cutting network between Partition A {1,2} and Partition B {3,4,5}...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  <a:r>
              <a:t>Partition applied successfully.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FDE047"/>
                </a:solidFill>
                <a:latin typeface="Courier New"/>
              </a:defRPr>
            </a:pPr>
            <a:r>
              <a:t>SplitBrain-CLI&gt; workload 2 transfer_funds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  <a:r>
              <a:t>Submitting task 'transfer_funds' to Node 2...</a:t>
            </a:r>
          </a:p>
          <a:p>
            <a:pPr>
              <a:spcAft>
                <a:spcPts val="200"/>
              </a:spcAft>
              <a:defRPr sz="950">
                <a:solidFill>
                  <a:srgbClr val="F87171"/>
                </a:solidFill>
                <a:latin typeface="Courier New"/>
              </a:defRPr>
            </a:pPr>
            <a:r>
              <a:t>Node 2 Response: Result='REJECTED_SPLIT_BRAIN_FENCED_MINORITY'</a:t>
            </a:r>
          </a:p>
          <a:p>
            <a:pPr>
              <a:spcAft>
                <a:spcPts val="200"/>
              </a:spcAft>
              <a:defRPr sz="950">
                <a:solidFill>
                  <a:srgbClr val="F87171"/>
                </a:solidFill>
                <a:latin typeface="Courier New"/>
              </a:defRPr>
            </a:pPr>
            <a:r>
              <a:t>Status='FAIL_NO_QUORUM'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FDE047"/>
                </a:solidFill>
                <a:latin typeface="Courier New"/>
              </a:defRPr>
            </a:pPr>
            <a:r>
              <a:t>SplitBrain-CLI&gt; workload 4 transfer_funds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  <a:r>
              <a:t>Submitting task 'transfer_funds' to Node 4...</a:t>
            </a:r>
          </a:p>
          <a:p>
            <a:pPr>
              <a:spcAft>
                <a:spcPts val="200"/>
              </a:spcAft>
              <a:defRPr sz="950">
                <a:solidFill>
                  <a:srgbClr val="4ADE80"/>
                </a:solidFill>
                <a:latin typeface="Courier New"/>
              </a:defRPr>
            </a:pPr>
            <a:r>
              <a:t>Node 4 Response: Result='SUCCESS_EXECUTED_BY_LEADER_N4'</a:t>
            </a:r>
          </a:p>
          <a:p>
            <a:pPr>
              <a:spcAft>
                <a:spcPts val="200"/>
              </a:spcAft>
              <a:defRPr sz="950">
                <a:solidFill>
                  <a:srgbClr val="4ADE80"/>
                </a:solidFill>
                <a:latin typeface="Courier New"/>
              </a:defRPr>
            </a:pPr>
            <a:r>
              <a:t>Status='OK'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FDE047"/>
                </a:solidFill>
                <a:latin typeface="Courier New"/>
              </a:defRPr>
            </a:pPr>
            <a:r>
              <a:t>SplitBrain-CLI&gt; heal</a:t>
            </a:r>
          </a:p>
          <a:p>
            <a:pPr>
              <a:spcAft>
                <a:spcPts val="200"/>
              </a:spcAft>
              <a:defRPr sz="950">
                <a:solidFill>
                  <a:srgbClr val="F1F5F9"/>
                </a:solidFill>
                <a:latin typeface="Courier New"/>
              </a:defRPr>
            </a:pPr>
            <a:r>
              <a:t>Full cluster connectivity restored.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DISTRIBUTED COMPUTING LABORATORY • EXPERIMENT 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Summary &amp; Key Engineering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Relevance in Modern Systems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</a:defRPr>
            </a:pPr>
            <a:r>
              <a:t>• Production Systems: Strict majority quorums are the foundational building block of Raft (etcd, Kubernetes), Paxos (Google Spanner), and ZooKeeper (Zab protocol).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</a:defRPr>
            </a:pPr>
            <a:r>
              <a:t>• CAP Theorem Trade-off: Under network partitions (P), the system chooses Consistency (C) over Availability (A). Minority nodes sacrifice write availability to preserve absolute cluster safety.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</a:defRPr>
            </a:pPr>
            <a:r>
              <a:t>• Hardware Planning: Cluster sizes are intentionally chosen as odd numbers (N = 3, 5, 7) because an even cluster (N=4) requires Q=3, providing no additional fault tolerance over N=3.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Experiment 5 Verification Checklist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</a:defRPr>
            </a:pPr>
            <a:r>
              <a:t>[✓] UDP Datagram socket communication verified across 5 concurrent JVM node processes.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</a:defRPr>
            </a:pPr>
            <a:r>
              <a:t>[✓] Pre-election quorum validation halts election triggers in sub-clusters &lt; 3 nodes.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</a:defRPr>
            </a:pPr>
            <a:r>
              <a:t>[✓] Minority partition {1, 2} transitions to FENCED_MINORITY with zero rogue leaders.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</a:defRPr>
            </a:pPr>
            <a:r>
              <a:t>[✓] Client write workloads in minority partition rejected with FAIL_NO_QUORUM.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</a:defRPr>
            </a:pPr>
            <a:r>
              <a:t>[✓] Majority partition {3, 4, 5} maintains active leader quorum lease and processes tasks.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</a:defRPr>
            </a:pPr>
            <a:r>
              <a:t>[✓] Dynamic partition healing demonstrates automatic cluster re-unification under 1 leader.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