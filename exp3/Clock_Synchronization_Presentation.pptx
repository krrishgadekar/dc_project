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DISTRIBUTED COMPUTING LABORATORY • EXPERIMENT 3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Clock Synchronization in Distributed Systems</a:t>
            </a:r>
          </a:p>
          <a:p>
            <a:pPr>
              <a:spcAft>
                <a:spcPts val="3600"/>
              </a:spcAft>
              <a:defRPr sz="1800">
                <a:solidFill>
                  <a:srgbClr val="CBD5E1"/>
                </a:solidFill>
              </a:defRPr>
            </a:pPr>
            <a:r>
              <a:t>Implementation of Lamport Logical Clocks &amp; Berkeley Physical Clock Synchronization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Student: Yash Dharamshi | UID: 2024300047 | Division: A (Batch C)</a:t>
            </a:r>
            <a:br/>
            <a:r>
              <a:t>Sardar Patel Institute of Technology,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The Need for Clock Synchronization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The Distributed Time Challenge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No Global Shared Clock: Autonomous nodes rely solely on isolated local oscillators.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Hardware Clock Drift: Crystal frequency imperfections and heat cause timestamps to diverge over time.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Causality Inversion: A fast node sending to a slow node can result in receive timestamps preceding send timestamps.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System Risk: Breaks transactional atomicity, distributed logging, and consensus protocols.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7490"/>
                </a:solidFill>
              </a:defRPr>
            </a:pPr>
            <a:r>
              <a:t>The Dual Synchronization Strategy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• Logical Time (Lamport):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</a:defRPr>
            </a:pPr>
            <a:r>
              <a:t>  - Tracks relative causal event ordering (A → B).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</a:defRPr>
            </a:pPr>
            <a:r>
              <a:t>  - Decoupled from physical quartz oscillators using monotonic sequence numbers.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• Physical Time (Berkeley Algorithm):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</a:defRPr>
            </a:pPr>
            <a:r>
              <a:t>  - Master node periodically polls and averages internal cluster timestamps.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</a:defRPr>
            </a:pPr>
            <a:r>
              <a:t>  - Computes and applies relative offsets (Δt) without stepping local clocks backward.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Comparative Analysis: Logical vs. Physical Synchronization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4497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Lamport Logical Clocks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Berkeley Physical Sync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Primary 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Preserve causal event ordering (A →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Minimize physical cluster skew (Δt)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Time Representation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Monotonically increasing integer (1, 2, 3...)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Absolute epoch milliseconds / UTC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Coordination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Decentralized (piggybacked on datagrams)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Centralized active Master-Worker polling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Adjustment Rule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Jump to max(L_local, L_msg) + 1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4748B"/>
                          </a:solidFill>
                        </a:defRPr>
                      </a:pPr>
                      <a:r>
                        <a:t>Relative offset slew (Δt_i = T_avg - T_i)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Algorithmic Rules &amp; Mathematical Formulations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Lamport's Logical Clock Rules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Happens-Before Relation (→):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If event A causes event B, then L(A) &lt; L(B).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Rule 1 (Internal Event / Dispatch):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L_local = L_local + 1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Rule 2 (Message Ingestion):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L_local = max(L_local, L_msg) + 1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Total Ordering Tie-Breaker: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  If L(A) == L(B), order by NodeID: NodeID_A &lt; NodeID_B.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Berkeley Physical Sync Formulae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Step 1: Master Polls Physical Time: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Master transmits TIME_REQ to all worker nodes.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Step 2: Workers Reply with Timestamp: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T_i = System.currentTimeMillis() + offset_i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Step 3: Cluster Average Computation: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T_avg = (1 / N) * Σ (T_i)</a:t>
            </a:r>
          </a:p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Step 4: Relative Offset Calculation: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Δt_i = T_avg - T_i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  Adjusts clocks smoothly without stepping backwards.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Multi-Threaded Node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Thread 1: Listener Thread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Runs blocking UDP socket read loop. Ingests incoming datagrams, atomically synchronizes the local Lamport clock, and handles Berkeley sync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Thread 2: Worker / Traffic Thread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Periodically generates simulated application transactions (every 2.5s) to produce asynchronous inter-node causal message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Thread 3: Berkeley Coordinator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Active exclusively on Master node. Initiates periodic physical sync rounds (every 6.0s), computes cluster average, and dispatches offsets.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Thread Synchronization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All thread accesses to shared state variables (`lamportClock`, `physicalClockOffsetMs`) are synchronized using `synchronized(clockLock)` monitor 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Core Java Implementation: Synchronization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Lamport Clock Methods</a:t>
            </a:r>
          </a:p>
          <a:p>
            <a:pPr>
              <a:defRPr sz="1000">
                <a:solidFill>
                  <a:srgbClr val="F1F5F9"/>
                </a:solidFill>
                <a:latin typeface="Consolas"/>
              </a:defRPr>
            </a:pPr>
            <a:r>
              <a:t>// Rule 1: Local / Pre-send tick</a:t>
            </a:r>
            <a:br/>
            <a:r>
              <a:t>public int tickLogicalClock() {</a:t>
            </a:r>
            <a:br/>
            <a:r>
              <a:t>    synchronized (clockLock) {</a:t>
            </a:r>
            <a:br/>
            <a:r>
              <a:t>        return ++lamportClock;</a:t>
            </a:r>
            <a:br/>
            <a:r>
              <a:t>    }</a:t>
            </a:r>
            <a:br/>
            <a:r>
              <a:t>}</a:t>
            </a:r>
            <a:br/>
            <a:br/>
            <a:r>
              <a:t>// Rule 2: Message receipt sync</a:t>
            </a:r>
            <a:br/>
            <a:r>
              <a:t>public int updateLogicalClockOnReceive(int receivedClock) {</a:t>
            </a:r>
            <a:br/>
            <a:r>
              <a:t>    synchronized (clockLock) {</a:t>
            </a:r>
            <a:br/>
            <a:r>
              <a:t>        lamportClock = Math.max(lamportClock, receivedClock) + 1;</a:t>
            </a:r>
            <a:br/>
            <a:r>
              <a:t>        return lamportClock;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Berkeley Calculation Logic</a:t>
            </a:r>
          </a:p>
          <a:p>
            <a:pPr>
              <a:defRPr sz="1000">
                <a:solidFill>
                  <a:srgbClr val="F1F5F9"/>
                </a:solidFill>
                <a:latin typeface="Consolas"/>
              </a:defRPr>
            </a:pPr>
            <a:r>
              <a:t>// Master-side offset calculation</a:t>
            </a:r>
            <a:br/>
            <a:r>
              <a:t>long sum = 0;</a:t>
            </a:r>
            <a:br/>
            <a:r>
              <a:t>for (long t : collectedNodeTimes.values()) {</a:t>
            </a:r>
            <a:br/>
            <a:r>
              <a:t>    sum += t;</a:t>
            </a:r>
            <a:br/>
            <a:r>
              <a:t>}</a:t>
            </a:r>
            <a:br/>
            <a:r>
              <a:t>long avgTime = sum / collectedNodeTimes.size();</a:t>
            </a:r>
            <a:br/>
            <a:br/>
            <a:r>
              <a:t>for (int peerId : NODE_PORTS.keySet()) {</a:t>
            </a:r>
            <a:br/>
            <a:r>
              <a:t>    long currentT = nodeTimes.get(peerId);</a:t>
            </a:r>
            <a:br/>
            <a:r>
              <a:t>    long adjustment = avgTime - currentT;</a:t>
            </a:r>
            <a:br/>
            <a:r>
              <a:t>    sendAdjustment(peerId, adjustment);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Verification &amp; Output Trace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800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Simulation Console Trace (Captured Output)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[CLUSTER CONFIG] Node 1 (Master, 0ms drift) | Node 2 (+1200ms drift) | Node 3 (-800ms drift)</a:t>
            </a:r>
            <a:br/>
            <a:br/>
            <a:r>
              <a:t>[14:10:03.605] [Node 1 | L=1 | PhysTime: 17180003605ms] [SEND_MSG] Sent Transaction_1 to Node 2 (Local L=1)</a:t>
            </a:r>
            <a:br/>
            <a:r>
              <a:t>[14:10:03.610] [Node 2 | L=2 | PhysTime: 17180004810ms] [RECV_MSG] Received from Node 1 (Sender L=1) -&gt; Local L advanced to 2</a:t>
            </a:r>
            <a:br/>
            <a:r>
              <a:t>[14:10:03.810] [Node 2 | L=3 | PhysTime: 17180005010ms] [SEND_MSG] Sent Transaction_1 to Node 3 (Local L=3)</a:t>
            </a:r>
            <a:br/>
            <a:r>
              <a:t>[14:10:03.815] [Node 3 | L=4 | PhysTime: 17180003015ms] [RECV_MSG] Received from Node 2 (Sender L=3) -&gt; Local L advanced to 4</a:t>
            </a:r>
            <a:br/>
            <a:br/>
            <a:r>
              <a:t>[14:10:07.100] [Node 1 | Master] Initiating Berkeley Physical Clock Synchronization Round...</a:t>
            </a:r>
            <a:br/>
            <a:r>
              <a:t>[14:10:07.910] [Node 1 | Master] Cluster Avg Physical Time: 17180008043 ms</a:t>
            </a:r>
            <a:br/>
            <a:r>
              <a:t>[14:10:07.915] [Node 2] Applied Clock Offset: -1072 ms -&gt; New PhysTime: 17180008043 ms</a:t>
            </a:r>
            <a:br/>
            <a:r>
              <a:t>[14:10:07.920] [Node 3] Applied Clock Offset: +923 ms  -&gt; New PhysTime: 17180008043 ms</a:t>
            </a:r>
            <a:br/>
            <a:br/>
            <a:r>
              <a:t>&gt;&gt;&gt; VERIFICATION RESULT: Causal Invariant (L_recv &gt; L_send) &amp; Physical Time Convergence Confirmed &lt;&lt;&lt;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Monotonic Causality Enforced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Lamport's logical clocks guarantee causal consistency across asynchronous node communication without relying on hardware timers.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2. Physical Skew Elimination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The Berkeley algorithm successfully converged skewed physical clocks to a uniform baseline using relative offsets without backwards clock stepping.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3. Non-Blocking Concurrency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Multi-threading isolates networking and clock calibration routines from application execution loops.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4. Distributed Foundation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Provides essential ordering and synchronization primitives required for primary-backup replication, distributed consensus, and transaction serializability.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